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7" r:id="rId4"/>
    <p:sldId id="259" r:id="rId5"/>
    <p:sldId id="260" r:id="rId6"/>
    <p:sldId id="262" r:id="rId7"/>
    <p:sldId id="266" r:id="rId8"/>
    <p:sldId id="270" r:id="rId9"/>
    <p:sldId id="271" r:id="rId10"/>
    <p:sldId id="263" r:id="rId11"/>
    <p:sldId id="267" r:id="rId12"/>
    <p:sldId id="269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5239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103120"/>
            <a:ext cx="5486400" cy="54864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6366F1">
              <a:alpha val="1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/>
          <p:nvPr/>
        </p:nvSpPr>
        <p:spPr>
          <a:xfrm>
            <a:off x="54864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ДИПЛОМНЫЙ ПРОЕКТ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971800"/>
            <a:ext cx="9692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Портал рабочих задач для команд</a:t>
            </a:r>
            <a:endParaRPr lang="en-US" sz="3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линии технической поддержки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54864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Специальность 09.02.07 «Информационные системы и программирование»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5257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 студент: </a:t>
            </a:r>
            <a:r>
              <a:rPr lang="ru-RU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Воробьёв Роман Алексеевич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61722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8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Частное учреждение профессионального образования «Высшая школа предпринимательства»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628632" y="6172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C8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Тверь · 2026</a:t>
            </a:r>
            <a:endParaRPr lang="en-US" sz="105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378E36A-CDAA-3E2F-8FF8-2B30B3A1F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124953"/>
            <a:ext cx="2241929" cy="2218974"/>
          </a:xfrm>
          <a:prstGeom prst="rect">
            <a:avLst/>
          </a:prstGeom>
        </p:spPr>
      </p:pic>
      <p:sp>
        <p:nvSpPr>
          <p:cNvPr id="16" name="Text 7">
            <a:extLst>
              <a:ext uri="{FF2B5EF4-FFF2-40B4-BE49-F238E27FC236}">
                <a16:creationId xmlns:a16="http://schemas.microsoft.com/office/drawing/2014/main" id="{4359FD1F-EBC8-6322-B9EA-BE1071E4D09D}"/>
              </a:ext>
            </a:extLst>
          </p:cNvPr>
          <p:cNvSpPr/>
          <p:nvPr/>
        </p:nvSpPr>
        <p:spPr>
          <a:xfrm>
            <a:off x="548640" y="55092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350" dirty="0">
                <a:solidFill>
                  <a:srgbClr val="8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Научный руководитель</a:t>
            </a:r>
            <a:r>
              <a:rPr lang="en-US" sz="1350" dirty="0">
                <a:solidFill>
                  <a:srgbClr val="8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ru-RU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Смирнов Сергей Игоревич </a:t>
            </a:r>
            <a:endParaRPr lang="en-US" sz="135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EEA7077E-0E56-4E00-BEEE-EA6206E6214F}"/>
              </a:ext>
            </a:extLst>
          </p:cNvPr>
          <p:cNvSpPr/>
          <p:nvPr/>
        </p:nvSpPr>
        <p:spPr>
          <a:xfrm>
            <a:off x="184655" y="1025076"/>
            <a:ext cx="9692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Частное </a:t>
            </a:r>
            <a:r>
              <a:rPr lang="en-US" sz="2800" b="1" dirty="0" err="1">
                <a:solidFill>
                  <a:schemeClr val="bg1"/>
                </a:solidFill>
              </a:rPr>
              <a:t>учреждение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профессионального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образования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endParaRPr lang="ru-RU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«</a:t>
            </a:r>
            <a:r>
              <a:rPr lang="en-US" sz="2800" b="1" dirty="0" err="1">
                <a:solidFill>
                  <a:schemeClr val="bg1"/>
                </a:solidFill>
              </a:rPr>
              <a:t>Высшая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школа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предпринимательства</a:t>
            </a:r>
            <a:r>
              <a:rPr lang="en-US" sz="2800" b="1" dirty="0">
                <a:solidFill>
                  <a:schemeClr val="bg1"/>
                </a:solidFill>
              </a:rPr>
              <a:t>»</a:t>
            </a:r>
            <a:endParaRPr lang="ru-RU" sz="2800" b="1" dirty="0">
              <a:solidFill>
                <a:schemeClr val="bg1"/>
              </a:solidFill>
              <a:effectLst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ВВЕДЕНИЕ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Вторая линия поддержки решает то, с чем не справилась первая: сбои сервера, ошибки в базе данных, инфраструктурные проблемы. Это требует более глубокой работы с заявкой, чем простой ответ клиенту. Готовых инструментов под такую специфику на рынке немного.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065445"/>
              </p:ext>
            </p:extLst>
          </p:nvPr>
        </p:nvGraphicFramePr>
        <p:xfrm>
          <a:off x="548640" y="2331720"/>
          <a:ext cx="11091672" cy="342900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Критерий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3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Jira / Zendesk / Я</a:t>
                      </a:r>
                      <a:r>
                        <a:rPr lang="ru-RU" sz="1250" b="1" dirty="0" err="1">
                          <a:solidFill>
                            <a:srgbClr val="FFFFFF"/>
                          </a:solidFill>
                        </a:rPr>
                        <a:t>ндекс</a:t>
                      </a: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.Трекер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3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250" b="1" dirty="0">
                          <a:solidFill>
                            <a:srgbClr val="FFFFFF"/>
                          </a:solidFill>
                        </a:rPr>
                        <a:t>Мой проект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</a:rPr>
                        <a:t>Сквозной процесс «заявка → задача»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</a:rPr>
                        <a:t>Частично или отсутствует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1320"/>
                          </a:solidFill>
                        </a:rPr>
                        <a:t>Полностью покрыт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</a:rPr>
                        <a:t>Клиентский портал + внутренний инструмент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</a:rPr>
                        <a:t>Отдельные продукты </a:t>
                      </a:r>
                      <a:r>
                        <a:rPr lang="en-US" sz="1200" dirty="0" err="1">
                          <a:solidFill>
                            <a:srgbClr val="4B5563"/>
                          </a:solidFill>
                        </a:rPr>
                        <a:t>или</a:t>
                      </a:r>
                      <a:r>
                        <a:rPr lang="en-US" sz="1200" dirty="0">
                          <a:solidFill>
                            <a:srgbClr val="4B5563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4B5563"/>
                          </a:solidFill>
                        </a:rPr>
                        <a:t>нет</a:t>
                      </a:r>
                      <a:r>
                        <a:rPr lang="ru-RU" sz="1200" dirty="0">
                          <a:solidFill>
                            <a:srgbClr val="4B5563"/>
                          </a:solidFill>
                        </a:rPr>
                        <a:t> вовсе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1320"/>
                          </a:solidFill>
                        </a:rPr>
                        <a:t>Два интерфейса на одной базе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</a:rPr>
                        <a:t>Ориентация на профиль 2ЛТП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</a:rPr>
                        <a:t>Нет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1320"/>
                          </a:solidFill>
                        </a:rPr>
                        <a:t>Спроектировано под профиль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</a:rPr>
                        <a:t>Развёртывание on-premise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</a:rPr>
                        <a:t>Ограничено или нет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1320"/>
                          </a:solidFill>
                        </a:rPr>
                        <a:t>Docker, одна команда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«Портал 2ЛТП» — веб-платформа для команд второй линии технической поддержки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ВВЕДЕНИЕ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 задачи проекта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EEF4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5400000" algn="bl" rotWithShape="0">
              <a:srgbClr val="0F141E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02996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веб-платформу для управления рабочими задачами команд 2ЛТП, обеспечивающую сквозной процесс — от приёма заявки клиента до её закрытия через внутреннюю задачу с подзадачами и уведомлениями.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008376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548640" y="3008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9264" y="2971800"/>
            <a:ext cx="492861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Проанализировать работу команд 2ЛТП и существующие решения, выделить требования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91072" y="3008376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6291072" y="3008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11696" y="2971800"/>
            <a:ext cx="492861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Сформировать ролевую модель и спроектировать схему реляционной БД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575304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548640" y="3575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9264" y="3538728"/>
            <a:ext cx="492861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ru-RU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Составить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стек разработки и требования к безопасности платформы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91072" y="3575304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6291072" y="3575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11696" y="3538728"/>
            <a:ext cx="492861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серверную часть: FastAPI, PostgreSQL, Celery, WebSocket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142232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548640" y="4142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9264" y="4105656"/>
            <a:ext cx="492861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два интерфейса на React — внутренний и клиентский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91072" y="4142232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6291072" y="4142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11696" y="4105656"/>
            <a:ext cx="492861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Подготовить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документацию</a:t>
            </a:r>
            <a:r>
              <a:rPr lang="ru-RU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развёртывани</a:t>
            </a:r>
            <a:r>
              <a:rPr lang="ru-RU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Docker и открытый репозиторий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«Портал 2ЛТП» — веб-платформа для команд второй линии технической поддержки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Ролевая модель: пять ролей, разные сценарии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84832" cy="22860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F141E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749808" y="1920240"/>
            <a:ext cx="365760" cy="365760"/>
          </a:xfrm>
          <a:prstGeom prst="ellipse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49808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441448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2807208"/>
            <a:ext cx="171907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Создаёт обращения, видит только свои заявки и статус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98064" y="1691640"/>
            <a:ext cx="2084832" cy="22860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F141E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2999232" y="1920240"/>
            <a:ext cx="365760" cy="365760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2999232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80944" y="2441448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0" b="1" dirty="0" err="1"/>
              <a:t>Инженер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980944" y="2807208"/>
            <a:ext cx="171907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«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Мои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задачи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», 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смена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статуса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прикрепление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файлов</a:t>
            </a:r>
            <a:endParaRPr lang="ru-RU" sz="1100" dirty="0"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047488" y="1691640"/>
            <a:ext cx="2084832" cy="22860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F141E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5248656" y="1920240"/>
            <a:ext cx="365760" cy="365760"/>
          </a:xfrm>
          <a:prstGeom prst="ellipse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5248656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30368" y="2441448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0" b="1" dirty="0" err="1"/>
              <a:t>Тимлид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230368" y="2807208"/>
            <a:ext cx="171907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100" dirty="0"/>
              <a:t>Д</a:t>
            </a:r>
            <a:r>
              <a:rPr lang="en-US" sz="1100" dirty="0" err="1"/>
              <a:t>оска</a:t>
            </a:r>
            <a:r>
              <a:rPr lang="ru-RU" sz="1100" dirty="0"/>
              <a:t>-задач</a:t>
            </a:r>
            <a:r>
              <a:rPr lang="en-US" sz="1100" dirty="0"/>
              <a:t> </a:t>
            </a:r>
            <a:r>
              <a:rPr lang="en-US" sz="1100" dirty="0" err="1"/>
              <a:t>команды</a:t>
            </a:r>
            <a:r>
              <a:rPr lang="en-US" sz="1100" dirty="0"/>
              <a:t>, </a:t>
            </a:r>
            <a:r>
              <a:rPr lang="en-US" sz="1100" dirty="0" err="1"/>
              <a:t>декомпозиция</a:t>
            </a:r>
            <a:r>
              <a:rPr lang="en-US" sz="1100" dirty="0"/>
              <a:t> </a:t>
            </a:r>
            <a:r>
              <a:rPr lang="en-US" sz="1100" dirty="0" err="1"/>
              <a:t>на</a:t>
            </a:r>
            <a:r>
              <a:rPr lang="en-US" sz="1100" dirty="0"/>
              <a:t> </a:t>
            </a:r>
            <a:r>
              <a:rPr lang="en-US" sz="1100" dirty="0" err="1"/>
              <a:t>подзадачи</a:t>
            </a:r>
            <a:endParaRPr lang="ru-RU" sz="1100" dirty="0">
              <a:effectLst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296912" y="1691640"/>
            <a:ext cx="2084832" cy="22860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F141E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7498080" y="1920240"/>
            <a:ext cx="365760" cy="365760"/>
          </a:xfrm>
          <a:prstGeom prst="ellipse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749808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79792" y="2441448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0" b="1" dirty="0" err="1"/>
              <a:t>Менеджер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479792" y="2807208"/>
            <a:ext cx="171907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 err="1"/>
              <a:t>Принимает</a:t>
            </a:r>
            <a:r>
              <a:rPr lang="en-US" sz="1100" dirty="0"/>
              <a:t> </a:t>
            </a:r>
            <a:r>
              <a:rPr lang="en-US" sz="1100" dirty="0" err="1"/>
              <a:t>обращения</a:t>
            </a:r>
            <a:r>
              <a:rPr lang="en-US" sz="1100" dirty="0"/>
              <a:t>, </a:t>
            </a:r>
            <a:r>
              <a:rPr lang="en-US" sz="1100" dirty="0" err="1"/>
              <a:t>ставит</a:t>
            </a:r>
            <a:r>
              <a:rPr lang="en-US" sz="1100" dirty="0"/>
              <a:t> </a:t>
            </a:r>
            <a:r>
              <a:rPr lang="en-US" sz="1100" dirty="0" err="1"/>
              <a:t>задачи</a:t>
            </a:r>
            <a:r>
              <a:rPr lang="en-US" sz="1100" dirty="0"/>
              <a:t> </a:t>
            </a:r>
            <a:r>
              <a:rPr lang="en-US" sz="1100" dirty="0" err="1"/>
              <a:t>командам</a:t>
            </a:r>
            <a:endParaRPr lang="ru-RU" sz="1100" dirty="0">
              <a:effectLst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546336" y="1691640"/>
            <a:ext cx="2084832" cy="22860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F141E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5" name="Shape 23"/>
          <p:cNvSpPr/>
          <p:nvPr/>
        </p:nvSpPr>
        <p:spPr>
          <a:xfrm>
            <a:off x="9747504" y="1920240"/>
            <a:ext cx="365760" cy="365760"/>
          </a:xfrm>
          <a:prstGeom prst="ellipse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9747504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729216" y="2441448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729216" y="2807208"/>
            <a:ext cx="171907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ru-RU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У.З. п</a:t>
            </a:r>
            <a:r>
              <a:rPr lang="en-US" sz="1100" dirty="0" err="1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ользовател</a:t>
            </a:r>
            <a:r>
              <a:rPr lang="ru-RU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ей</a:t>
            </a: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команды, журнал аудита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25196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F141E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822960" y="4434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 разграничения доступа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" y="47548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Матрица прав строится проверками вокруг ролей на стороне сервера (двухуровневая проверка) и определяет состав меню на клиенте. Клиент видит только свои обращения; внутреннюю «кухню» команды клиенту недоступна.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«Портал 2ЛТП» — веб-платформа для команд второй линии технической поддержки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и стек технологий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350" i="1" dirty="0" err="1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Четырё</a:t>
            </a:r>
            <a:r>
              <a:rPr lang="en-US" sz="1350" i="1" dirty="0" err="1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хслойная</a:t>
            </a:r>
            <a:r>
              <a:rPr lang="en-US" sz="13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серверная архитектура: </a:t>
            </a:r>
            <a:r>
              <a:rPr lang="ru-RU" sz="13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Фронтенд</a:t>
            </a:r>
            <a:r>
              <a:rPr lang="en-US" sz="13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ru-RU" sz="1350" i="1" dirty="0" err="1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бекенд</a:t>
            </a:r>
            <a:r>
              <a:rPr lang="ru-RU" sz="13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i="1" dirty="0" err="1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сервисы</a:t>
            </a:r>
            <a:r>
              <a:rPr lang="en-US" sz="13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модели и данные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F141E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/ Браузер</a:t>
            </a:r>
            <a:endParaRPr lang="en-US" sz="1250" dirty="0"/>
          </a:p>
        </p:txBody>
      </p:sp>
      <p:pic>
        <p:nvPicPr>
          <p:cNvPr id="7" name="Image 0" descr="/home/claude/work/build/assets/icon-arrow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2221992"/>
            <a:ext cx="292608" cy="2926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83280" y="196596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25400" dir="5400000" algn="bl" rotWithShape="0">
              <a:srgbClr val="0F141E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3383280" y="19659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1250" dirty="0"/>
          </a:p>
        </p:txBody>
      </p:sp>
      <p:pic>
        <p:nvPicPr>
          <p:cNvPr id="10" name="Image 1" descr="/home/claude/work/build/assets/icon-arrow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221992"/>
            <a:ext cx="292608" cy="2926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17920" y="196596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F141E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Text 8"/>
          <p:cNvSpPr/>
          <p:nvPr/>
        </p:nvSpPr>
        <p:spPr>
          <a:xfrm>
            <a:off x="6217920" y="19659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Redis</a:t>
            </a:r>
            <a:endParaRPr lang="en-US" sz="1250" dirty="0"/>
          </a:p>
        </p:txBody>
      </p:sp>
      <p:pic>
        <p:nvPicPr>
          <p:cNvPr id="13" name="Image 2" descr="/home/claude/work/build/assets/icon-arrow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221992"/>
            <a:ext cx="292608" cy="29260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052560" y="196596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F141E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Text 10"/>
          <p:cNvSpPr/>
          <p:nvPr/>
        </p:nvSpPr>
        <p:spPr>
          <a:xfrm>
            <a:off x="9052560" y="19659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worker + beat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124635"/>
              </p:ext>
            </p:extLst>
          </p:nvPr>
        </p:nvGraphicFramePr>
        <p:xfrm>
          <a:off x="548640" y="2971800"/>
          <a:ext cx="11091672" cy="3328416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2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Уровень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3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Технологии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3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1320"/>
                          </a:solidFill>
                        </a:rPr>
                        <a:t>Серверная часть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</a:rPr>
                        <a:t>Python · FastAPI · Uvicorn (асинхронно)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1320"/>
                          </a:solidFill>
                        </a:rPr>
                        <a:t>База данных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</a:rPr>
                        <a:t>PostgreSQL 15 · SQLAlchemy 2.0 (async) · Alembic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1320"/>
                          </a:solidFill>
                        </a:rPr>
                        <a:t>Фоновые задачи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</a:rPr>
                        <a:t>Celery · Redis (брокер + rate-limit storage)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1320"/>
                          </a:solidFill>
                        </a:rPr>
                        <a:t>Реальное время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</a:rPr>
                        <a:t>WebSocket — мгновенная доставка уведомлений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1320"/>
                          </a:solidFill>
                        </a:rPr>
                        <a:t>Клиентская часть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</a:rPr>
                        <a:t>React 18 · TypeScript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1320"/>
                          </a:solidFill>
                        </a:rPr>
                        <a:t>Контейнеризация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</a:rPr>
                        <a:t>Docker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«Портал 2ЛТП» — веб-платформа для команд второй линии технической поддержки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10312" y="-39854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Логическая модель данных (ER)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863018" y="497926"/>
            <a:ext cx="8465964" cy="6250345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F141E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Text 15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8180914-7354-B408-0275-08226B61E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497927"/>
            <a:ext cx="8229600" cy="61131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Пользовательские</a:t>
            </a:r>
            <a:r>
              <a:rPr lang="en-US" sz="3200" b="1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интерфейсы</a:t>
            </a:r>
            <a:endParaRPr lang="ru-RU" sz="3200" b="1" dirty="0">
              <a:solidFill>
                <a:srgbClr val="0E13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«Портал 2ЛТП» — веб-платформа для команд второй линии технической поддержки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E15AB0F6-8711-4BC5-B563-AAEA16F1768C}"/>
              </a:ext>
            </a:extLst>
          </p:cNvPr>
          <p:cNvSpPr/>
          <p:nvPr/>
        </p:nvSpPr>
        <p:spPr>
          <a:xfrm>
            <a:off x="548640" y="1183169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b="1" dirty="0"/>
              <a:t>Менеджер</a:t>
            </a:r>
            <a:r>
              <a:rPr lang="en-US" b="1" dirty="0"/>
              <a:t> — </a:t>
            </a:r>
            <a:r>
              <a:rPr lang="ru-RU" b="1" dirty="0"/>
              <a:t>Экран создания и редактирования задач</a:t>
            </a:r>
            <a:endParaRPr lang="ru-RU" sz="3200" b="1" dirty="0">
              <a:effectLst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863A669-F951-9197-FC48-C4A798493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3249"/>
            <a:ext cx="12192000" cy="44503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973D4F0D-9ECF-B4E5-763B-2D331FE262F1}"/>
              </a:ext>
            </a:extLst>
          </p:cNvPr>
          <p:cNvSpPr/>
          <p:nvPr/>
        </p:nvSpPr>
        <p:spPr>
          <a:xfrm>
            <a:off x="453749" y="514825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 err="1"/>
              <a:t>Тимлид</a:t>
            </a:r>
            <a:r>
              <a:rPr lang="en-US" b="1" dirty="0"/>
              <a:t> —</a:t>
            </a:r>
            <a:r>
              <a:rPr lang="ru-RU" b="1" dirty="0"/>
              <a:t> Процесс работы с задачей</a:t>
            </a:r>
            <a:endParaRPr lang="ru-RU" sz="3200" b="1" dirty="0">
              <a:effectLst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C56E38B-DCB6-5EB2-1762-A3720E20C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785" y="138023"/>
            <a:ext cx="3762476" cy="678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139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970CE0EA-828D-F1D4-5CA5-63821930E5E6}"/>
              </a:ext>
            </a:extLst>
          </p:cNvPr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 err="1"/>
              <a:t>Клиент</a:t>
            </a:r>
            <a:r>
              <a:rPr lang="en-US" b="1" dirty="0"/>
              <a:t> — </a:t>
            </a:r>
            <a:r>
              <a:rPr lang="en-US" b="1" dirty="0" err="1"/>
              <a:t>карточка</a:t>
            </a:r>
            <a:r>
              <a:rPr lang="en-US" b="1" dirty="0"/>
              <a:t> </a:t>
            </a:r>
            <a:r>
              <a:rPr lang="en-US" b="1" dirty="0" err="1"/>
              <a:t>обращения</a:t>
            </a:r>
            <a:r>
              <a:rPr lang="en-US" b="1" dirty="0"/>
              <a:t> и </a:t>
            </a:r>
            <a:r>
              <a:rPr lang="en-US" b="1" dirty="0" err="1"/>
              <a:t>статус</a:t>
            </a:r>
            <a:endParaRPr lang="ru-RU" sz="3200" b="1" dirty="0">
              <a:effectLst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CF4418E-F536-FFE7-368C-C76FBF364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515" y="1278419"/>
            <a:ext cx="6792970" cy="5286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963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данных и контроль доступа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F141E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5" name="Image 0" descr="/home/claude/work/build/assets/icon-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2024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40487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Хеширование паролей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71576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 err="1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334256" y="169164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F141E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9" name="Image 1" descr="/home/claude/work/build/assets/icon-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856" y="192024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62856" y="240487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JWT-токены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62856" y="271576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r>
              <a:rPr lang="ru-RU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refresh; оба в httpOnly-куках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119872" y="169164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F141E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13" name="Image 2" descr="/home/claude/work/build/assets/icon-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2" y="192024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48472" y="240487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Двухуровневая проверка прав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348472" y="271576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Зависимости FastAPI на сервере + защищённые маршруты на клиенте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48640" y="342900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F141E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17" name="Image 3" descr="/home/claude/work/build/assets/icon-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657600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77240" y="414223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 и схемы вывода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777240" y="445312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не пропускает «лишние» поля модели в ответ клиенту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334256" y="342900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F141E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21" name="Image 4" descr="/home/claude/work/build/assets/icon-warn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2856" y="3657600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562856" y="414223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 частоты запросов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562856" y="445312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на Redis защищает от перегрузки и подбора паролей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8119872" y="342900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F141E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25" name="Image 5" descr="/home/claude/work/build/assets/icon-ch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8472" y="3657600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348472" y="414223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аудита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8348472" y="445312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значимое действие — с автором, временем и метаданными JSONB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«Портал 2ЛТП» — веб-платформа для команд второй линии технической поддержки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Достигнутые результаты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4352544"/>
        </p:xfrm>
        <a:graphic>
          <a:graphicData uri="http://schemas.openxmlformats.org/drawingml/2006/table">
            <a:tbl>
              <a:tblPr/>
              <a:tblGrid>
                <a:gridCol w="429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3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Поставленная задача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3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Результат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3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433"/>
                          </a:solidFill>
                        </a:rPr>
                        <a:t>Анализ предметной области и аналогов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</a:rPr>
                        <a:t>Выявлены пробелы рыночных решений, сформированы требования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433"/>
                          </a:solidFill>
                        </a:rPr>
                        <a:t>Ролевая модель и схема БД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</a:rPr>
                        <a:t>5 ролей с матрицей прав · 11 таблиц со связями и индексами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433"/>
                          </a:solidFill>
                        </a:rPr>
                        <a:t>Серверная часть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</a:rPr>
                        <a:t>FastAPI + PostgreSQL + Celery + Redis + WebSocket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433"/>
                          </a:solidFill>
                        </a:rPr>
                        <a:t>Два интерфейса на React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</a:rPr>
                        <a:t>Внутренний портал (плотный) и клиентский (минималистичный)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433"/>
                          </a:solidFill>
                        </a:rPr>
                        <a:t>Требования безопасности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</a:rPr>
                        <a:t>bcrypt, JWT в httpOnly-куках, rate limiting, журнал аудита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433"/>
                          </a:solidFill>
                        </a:rPr>
                        <a:t>Документация и развёртывание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</a:rPr>
                        <a:t>Docker compose одной командой, README, демо-данные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«Портал 2ЛТП» — веб-платформа для команд второй линии технической поддержки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3B82F6">
              <a:alpha val="11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8686800" y="3657600"/>
            <a:ext cx="5029200" cy="5029200"/>
          </a:xfrm>
          <a:prstGeom prst="ellipse">
            <a:avLst/>
          </a:prstGeom>
          <a:solidFill>
            <a:srgbClr val="6366F1">
              <a:alpha val="1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0" y="274320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</a:t>
            </a:r>
            <a:r>
              <a:rPr lang="en-US" sz="4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</a:t>
            </a: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внимание</a:t>
            </a:r>
            <a:r>
              <a:rPr lang="ru-RU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0" y="35204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0" y="635508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«Портал 2ЛТП» — </a:t>
            </a:r>
            <a:r>
              <a:rPr lang="ru-RU" sz="10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Воробьёв Роман Алексеевич</a:t>
            </a:r>
            <a:r>
              <a:rPr lang="en-US" sz="10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ЧУПО «ВШП» · Тверь, 2026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МАТЕРИАЛЫ ПРОЕКТА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Исходный код проекта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F141E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5" name="Image 0" descr="/home/claude/work/build/assets/icon-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0574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2103120"/>
            <a:ext cx="2493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Исходный код · GitHub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005840" y="4880360"/>
            <a:ext cx="3087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github.com/Bibuk/2ltp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«Портал 2ЛТП» — веб-платформа для команд второй линии технической поддержки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4B656EF8-D582-7C4B-A8A5-7D6B0838B3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9652" y="2697480"/>
            <a:ext cx="2000000" cy="2000000"/>
          </a:xfrm>
          <a:prstGeom prst="rect">
            <a:avLst/>
          </a:prstGeom>
        </p:spPr>
      </p:pic>
      <p:cxnSp>
        <p:nvCxnSpPr>
          <p:cNvPr id="22" name="Divider 1"/>
          <p:cNvCxnSpPr/>
          <p:nvPr/>
        </p:nvCxnSpPr>
        <p:spPr>
          <a:xfrm>
            <a:off x="4321056" y="2057400"/>
            <a:ext cx="0" cy="3291840"/>
          </a:xfrm>
          <a:prstGeom prst="line">
            <a:avLst/>
          </a:prstGeom>
          <a:ln w="9525">
            <a:solidFill>
              <a:srgbClr val="E5E7EB"/>
            </a:solidFill>
          </a:ln>
        </p:spPr>
      </p:cxnSp>
      <p:cxnSp>
        <p:nvCxnSpPr>
          <p:cNvPr id="23" name="Divider 2"/>
          <p:cNvCxnSpPr/>
          <p:nvPr/>
        </p:nvCxnSpPr>
        <p:spPr>
          <a:xfrm>
            <a:off x="7865880" y="2057400"/>
            <a:ext cx="0" cy="3291840"/>
          </a:xfrm>
          <a:prstGeom prst="line">
            <a:avLst/>
          </a:prstGeom>
          <a:ln w="9525">
            <a:solidFill>
              <a:srgbClr val="E5E7EB"/>
            </a:solidFill>
          </a:ln>
        </p:spPr>
      </p:cxnSp>
      <p:pic>
        <p:nvPicPr>
          <p:cNvPr id="24" name="Image Figma Icon" descr="Иконка Figm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0664" y="2057400"/>
            <a:ext cx="457200" cy="457200"/>
          </a:xfrm>
          <a:prstGeom prst="rect">
            <a:avLst/>
          </a:prstGeom>
        </p:spPr>
      </p:pic>
      <p:sp>
        <p:nvSpPr>
          <p:cNvPr id="25" name="Text Figma Title"/>
          <p:cNvSpPr/>
          <p:nvPr/>
        </p:nvSpPr>
        <p:spPr>
          <a:xfrm>
            <a:off x="5145024" y="2103120"/>
            <a:ext cx="2493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 · Figma</a:t>
            </a:r>
            <a:endParaRPr lang="en-US" sz="1600" dirty="0"/>
          </a:p>
        </p:txBody>
      </p:sp>
      <p:sp>
        <p:nvSpPr>
          <p:cNvPr id="27" name="Text Figma Caption"/>
          <p:cNvSpPr/>
          <p:nvPr/>
        </p:nvSpPr>
        <p:spPr>
          <a:xfrm>
            <a:off x="4548649" y="5143500"/>
            <a:ext cx="3087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https://www.figma.com/design/HARy0qPnZwwx5q8SgF5AGb/%D0%9F%D0%BE%D1%80%D1%82%D0%B0%D0%BB-2%D0%9B%D0%A2%D0%9F-%E2%80%94-%D0%94%D0%B8%D0%B7%D0%B0%D0%B9%D0%BD?t=hE2DZTZ99EjhxZkr-0</a:t>
            </a:r>
            <a:endParaRPr lang="en-US" sz="1200" dirty="0">
              <a:solidFill>
                <a:schemeClr val="accent1"/>
              </a:solidFill>
            </a:endParaRPr>
          </a:p>
        </p:txBody>
      </p:sp>
      <p:pic>
        <p:nvPicPr>
          <p:cNvPr id="28" name="Image App Icon" descr="Иконка веб-приложения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5488" y="2057400"/>
            <a:ext cx="457200" cy="457200"/>
          </a:xfrm>
          <a:prstGeom prst="rect">
            <a:avLst/>
          </a:prstGeom>
        </p:spPr>
      </p:pic>
      <p:sp>
        <p:nvSpPr>
          <p:cNvPr id="29" name="Text App Title"/>
          <p:cNvSpPr/>
          <p:nvPr/>
        </p:nvSpPr>
        <p:spPr>
          <a:xfrm>
            <a:off x="8689848" y="2103120"/>
            <a:ext cx="2493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Демо-приложение</a:t>
            </a:r>
            <a:endParaRPr lang="en-US" sz="1600" dirty="0"/>
          </a:p>
        </p:txBody>
      </p:sp>
      <p:sp>
        <p:nvSpPr>
          <p:cNvPr id="31" name="Text App Link"/>
          <p:cNvSpPr/>
          <p:nvPr/>
        </p:nvSpPr>
        <p:spPr>
          <a:xfrm>
            <a:off x="8095488" y="4880360"/>
            <a:ext cx="3087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http://62.113.110.228:3001/</a:t>
            </a:r>
            <a:endParaRPr lang="en-US" sz="1400" dirty="0"/>
          </a:p>
        </p:txBody>
      </p:sp>
      <p:sp>
        <p:nvSpPr>
          <p:cNvPr id="32" name="Text App Credentials"/>
          <p:cNvSpPr/>
          <p:nvPr/>
        </p:nvSpPr>
        <p:spPr>
          <a:xfrm>
            <a:off x="8095488" y="5337560"/>
            <a:ext cx="3087624" cy="64008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client@2ltp.ru</a:t>
            </a:r>
            <a:endParaRPr lang="en-US" sz="1100" b="1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Client123!</a:t>
            </a:r>
            <a:endParaRPr lang="en-US" sz="11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2E57FE9-132C-CC1D-44CF-6288541083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5675" y="2618358"/>
            <a:ext cx="2073572" cy="2073572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5DBD499-BB5A-1CA1-948B-45C4D3053E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4190" y="2756405"/>
            <a:ext cx="1950219" cy="19502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865</Words>
  <Application>Microsoft Office PowerPoint</Application>
  <PresentationFormat>Широкоэкранный</PresentationFormat>
  <Paragraphs>160</Paragraphs>
  <Slides>13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Портал 2ЛТП — Дипломный проект</dc:title>
  <dc:subject>PptxGenJS Presentation</dc:subject>
  <dc:creator>Дайзин Роман Сергеевич</dc:creator>
  <cp:lastModifiedBy>Администратор</cp:lastModifiedBy>
  <cp:revision>33</cp:revision>
  <dcterms:created xsi:type="dcterms:W3CDTF">2026-06-20T09:05:30Z</dcterms:created>
  <dcterms:modified xsi:type="dcterms:W3CDTF">2026-06-22T03:51:10Z</dcterms:modified>
</cp:coreProperties>
</file>